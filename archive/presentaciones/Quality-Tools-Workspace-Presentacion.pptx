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822960"/>
            <a:ext cx="1005840" cy="1005840"/>
          </a:xfrm>
          <a:prstGeom prst="ellipse">
            <a:avLst/>
          </a:prstGeom>
          <a:solidFill>
            <a:srgbClr val="2E2822"/>
          </a:solidFill>
          <a:ln/>
        </p:spPr>
      </p:sp>
      <p:pic>
        <p:nvPicPr>
          <p:cNvPr id="3" name="Image 0" descr="/sessions/confident-upbeat-thompson/mnt/outputs/deck/icons/connect-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953719"/>
            <a:ext cx="744322" cy="744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Tools Workspace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31520" y="32461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ownership, unified contracts.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7947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tools de calidad, separadas de verdad, conectadas por eventos.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+ JOAQUÍN  ·  ECOSISTEMA DE TOOLS INDUSTRIALES PARA ISOTOOLS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resuelve esto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tener eventos estándar, cada integración era un caso especial.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777240" cy="777240"/>
          </a:xfrm>
          <a:prstGeom prst="ellipse">
            <a:avLst/>
          </a:prstGeom>
          <a:solidFill>
            <a:srgbClr val="F0DDD3"/>
          </a:solidFill>
          <a:ln/>
        </p:spPr>
      </p:sp>
      <p:pic>
        <p:nvPicPr>
          <p:cNvPr id="6" name="Image 0" descr="/sessions/confident-upbeat-thompson/mnt/outputs/deck/icons/alert-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81" y="229560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Hoy, sin contrato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200400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tool habla su propio idioma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directas entre código, frágiles y difíciles de cambiar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decir con certeza qué pasó, cuándo, y por qué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194560"/>
            <a:ext cx="777240" cy="777240"/>
          </a:xfrm>
          <a:prstGeom prst="ellipse">
            <a:avLst/>
          </a:prstGeom>
          <a:solidFill>
            <a:srgbClr val="DCEEE5"/>
          </a:solidFill>
          <a:ln/>
        </p:spPr>
      </p:sp>
      <p:pic>
        <p:nvPicPr>
          <p:cNvPr id="11" name="Image 1" descr="/sessions/confident-upbeat-thompson/mnt/outputs/deck/icons/check-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161" y="229560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eventos estándar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75120" y="3200400"/>
            <a:ext cx="44348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contrato compartido — todos saben qué forma debe tener un evento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separadas que nunca se acoplan directamente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queda registrado, como evidencia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 central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30175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96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7112" y="301752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964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7112" y="30175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B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17236" y="2926080"/>
            <a:ext cx="1554480" cy="1554480"/>
          </a:xfrm>
          <a:prstGeom prst="ellipse">
            <a:avLst/>
          </a:prstGeom>
          <a:solidFill>
            <a:srgbClr val="241F1A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17236" y="29260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3703320"/>
            <a:ext cx="2025396" cy="0"/>
          </a:xfrm>
          <a:prstGeom prst="line">
            <a:avLst/>
          </a:prstGeom>
          <a:noFill/>
          <a:ln w="25400">
            <a:solidFill>
              <a:srgbClr val="5752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71716" y="3703320"/>
            <a:ext cx="2025396" cy="0"/>
          </a:xfrm>
          <a:prstGeom prst="line">
            <a:avLst/>
          </a:prstGeom>
          <a:noFill/>
          <a:ln w="25400">
            <a:solidFill>
              <a:srgbClr val="57524A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337560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71716" y="3319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tool vive separada. Se conectan solo por contrato — nunca por llamada directa.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737360"/>
            <a:ext cx="822960" cy="822960"/>
          </a:xfrm>
          <a:prstGeom prst="ellipse">
            <a:avLst/>
          </a:prstGeom>
          <a:solidFill>
            <a:srgbClr val="F0DDD3"/>
          </a:solidFill>
          <a:ln/>
        </p:spPr>
      </p:sp>
      <p:pic>
        <p:nvPicPr>
          <p:cNvPr id="5" name="Image 0" descr="/sessions/confident-upbeat-thompson/mnt/outputs/deck/icons/bars-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2825" y="18443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8105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calculate_cpk_ppk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011680" y="2148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Dueño: Angel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788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proceso se mantiene dentro de lo que pide el cliente?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7947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(OFICIAL)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05840" y="4096512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7EFF6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4096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MEASUREMENTS_CAPTURED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47091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(OFICIAL)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005840" y="501091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4F1EA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5010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CAPABILITY_BELOW_TARGET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" y="55961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por Carlos.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09360" y="1371600"/>
            <a:ext cx="5257800" cy="4846320"/>
          </a:xfrm>
          <a:prstGeom prst="roundRect">
            <a:avLst>
              <a:gd name="adj" fmla="val 2264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675120" y="1737360"/>
            <a:ext cx="822960" cy="822960"/>
          </a:xfrm>
          <a:prstGeom prst="ellipse">
            <a:avLst/>
          </a:prstGeom>
          <a:solidFill>
            <a:srgbClr val="F0DDD3"/>
          </a:solidFill>
          <a:ln/>
        </p:spPr>
      </p:sp>
      <p:pic>
        <p:nvPicPr>
          <p:cNvPr id="18" name="Image 1" descr="/sessions/confident-upbeat-thompson/mnt/outputs/deck/icons/target-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105" y="1844345"/>
            <a:ext cx="608990" cy="60899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680960" y="181051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run_msa_analysis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7680960" y="2148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Dueño: Joaquín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675120" y="278892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instrumento que mide es confiable?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6675120" y="37947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(OFICIAL)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675120" y="4096512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E7EFF6"/>
          </a:solidFill>
          <a:ln/>
        </p:spPr>
      </p:sp>
      <p:sp>
        <p:nvSpPr>
          <p:cNvPr id="24" name="Text 20"/>
          <p:cNvSpPr/>
          <p:nvPr/>
        </p:nvSpPr>
        <p:spPr>
          <a:xfrm>
            <a:off x="6675120" y="4096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NEW_DEVICE_REGISTERED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675120" y="47091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(OFICIAL)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675120" y="5010912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E4F1EA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5010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MSA_VALIDATED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675120" y="55961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por Carlos.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funciona, paso a paso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camino, sin importar cuál tool corra.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80060" y="3200400"/>
            <a:ext cx="868680" cy="868680"/>
          </a:xfrm>
          <a:prstGeom prst="ellipse">
            <a:avLst/>
          </a:prstGeom>
          <a:solidFill>
            <a:srgbClr val="C96442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006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42336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348740" y="3634740"/>
            <a:ext cx="1203350" cy="0"/>
          </a:xfrm>
          <a:prstGeom prst="line">
            <a:avLst/>
          </a:prstGeom>
          <a:noFill/>
          <a:ln w="31750">
            <a:solidFill>
              <a:srgbClr val="E3DED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52090" y="3200400"/>
            <a:ext cx="868680" cy="868680"/>
          </a:xfrm>
          <a:prstGeom prst="ellipse">
            <a:avLst/>
          </a:prstGeom>
          <a:solidFill>
            <a:srgbClr val="C96442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5209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09190" y="42336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0770" y="3634740"/>
            <a:ext cx="1203350" cy="0"/>
          </a:xfrm>
          <a:prstGeom prst="line">
            <a:avLst/>
          </a:prstGeom>
          <a:noFill/>
          <a:ln w="31750">
            <a:solidFill>
              <a:srgbClr val="E3DED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24121" y="3200400"/>
            <a:ext cx="868680" cy="868680"/>
          </a:xfrm>
          <a:prstGeom prst="ellipse">
            <a:avLst/>
          </a:prstGeom>
          <a:solidFill>
            <a:srgbClr val="C96442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4121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81221" y="42336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92801" y="3634740"/>
            <a:ext cx="1203350" cy="0"/>
          </a:xfrm>
          <a:prstGeom prst="line">
            <a:avLst/>
          </a:prstGeom>
          <a:noFill/>
          <a:ln w="31750">
            <a:solidFill>
              <a:srgbClr val="E3DED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96151" y="3200400"/>
            <a:ext cx="868680" cy="868680"/>
          </a:xfrm>
          <a:prstGeom prst="ellipse">
            <a:avLst/>
          </a:prstGeom>
          <a:solidFill>
            <a:srgbClr val="C96442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96151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3251" y="42336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64831" y="3634740"/>
            <a:ext cx="1203350" cy="0"/>
          </a:xfrm>
          <a:prstGeom prst="line">
            <a:avLst/>
          </a:prstGeom>
          <a:noFill/>
          <a:ln w="31750">
            <a:solidFill>
              <a:srgbClr val="E3DED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68182" y="3200400"/>
            <a:ext cx="868680" cy="868680"/>
          </a:xfrm>
          <a:prstGeom prst="ellipse">
            <a:avLst/>
          </a:prstGeom>
          <a:solidFill>
            <a:srgbClr val="C96442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68182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25282" y="42336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36862" y="3634740"/>
            <a:ext cx="1203350" cy="0"/>
          </a:xfrm>
          <a:prstGeom prst="line">
            <a:avLst/>
          </a:prstGeom>
          <a:noFill/>
          <a:ln w="31750">
            <a:solidFill>
              <a:srgbClr val="E3DED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840212" y="3200400"/>
            <a:ext cx="868680" cy="868680"/>
          </a:xfrm>
          <a:prstGeom prst="ellipse">
            <a:avLst/>
          </a:prstGeom>
          <a:solidFill>
            <a:srgbClr val="2E7D5B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840212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497312" y="423367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53949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faltan datos, se detiene en el paso 2 — nunca inventa un resultado.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0" cy="640080"/>
          </a:xfrm>
          <a:prstGeom prst="ellipse">
            <a:avLst/>
          </a:prstGeom>
          <a:solidFill>
            <a:srgbClr val="DCEEE5"/>
          </a:solidFill>
          <a:ln/>
        </p:spPr>
      </p:sp>
      <p:pic>
        <p:nvPicPr>
          <p:cNvPr id="3" name="Image 0" descr="/sessions/confident-upbeat-thompson/mnt/outputs/deck/icons/shield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850" y="494690"/>
            <a:ext cx="473659" cy="473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oficial — confirmado por Carlos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331720" y="160020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68296" y="16002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04488" y="201168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197096" y="160020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33672" y="16002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MEASUREMENTS_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9864" y="201168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062472" y="160020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99048" y="16002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cpk_ppk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635240" y="201168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927848" y="160020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64424" y="16002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BELOW_TARGET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500616" y="201168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793224" y="160020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29800" y="16002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2743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2331720" y="278892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368296" y="278892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904488" y="320040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4197096" y="278892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33672" y="278892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NEW_DEVICE_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769864" y="320040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062472" y="278892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99048" y="278892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run_msa_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635240" y="320040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927848" y="278892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64424" y="278892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MSA_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9500616" y="3200400"/>
            <a:ext cx="292608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793224" y="2788920"/>
            <a:ext cx="1572768" cy="822960"/>
          </a:xfrm>
          <a:prstGeom prst="roundRect">
            <a:avLst>
              <a:gd name="adj" fmla="val 8889"/>
            </a:avLst>
          </a:prstGeom>
          <a:solidFill>
            <a:srgbClr val="E4F1EA"/>
          </a:solidFill>
          <a:ln w="15875">
            <a:solidFill>
              <a:srgbClr val="2E7D5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29800" y="278892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Downstream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6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40080" y="4069080"/>
            <a:ext cx="10908792" cy="1965960"/>
          </a:xfrm>
          <a:prstGeom prst="roundRect">
            <a:avLst>
              <a:gd name="adj" fmla="val 5581"/>
            </a:avLst>
          </a:prstGeom>
          <a:solidFill>
            <a:srgbClr val="F4F2EC"/>
          </a:solidFill>
          <a:ln/>
        </p:spPr>
      </p:sp>
      <p:sp>
        <p:nvSpPr>
          <p:cNvPr id="36" name="Text 33"/>
          <p:cNvSpPr/>
          <p:nvPr/>
        </p:nvSpPr>
        <p:spPr>
          <a:xfrm>
            <a:off x="960120" y="4279392"/>
            <a:ext cx="10268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demás que las tools aceptan o emiten es propuesto — no oficial todavía.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consola es una simulación local — no está conectada a la API real.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real de IsoTools se verificó manualmente por PowerShell.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key nunca vive en el frontend ni en este repositorio.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2E2822"/>
          </a:solidFill>
          <a:ln/>
        </p:spPr>
      </p:sp>
      <p:pic>
        <p:nvPicPr>
          <p:cNvPr id="3" name="Image 0" descr="/sessions/confident-upbeat-thompson/mnt/outputs/deck/icons/monitor-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74112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00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una maqueta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D8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 el cálculo real de Cpk/Ppk y MSA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D8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contrato antes de mostrar nada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D8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registro de cada evento en el ledger</a:t>
            </a:r>
            <a:endParaRPr lang="en-US" sz="15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50" dirty="0">
                <a:solidFill>
                  <a:srgbClr val="D8D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Bilingüe, con modo técnico y modo calidad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230368" y="1630832"/>
            <a:ext cx="6483096" cy="3596335"/>
          </a:xfrm>
          <a:prstGeom prst="roundRect">
            <a:avLst>
              <a:gd name="adj" fmla="val 1526"/>
            </a:avLst>
          </a:prstGeom>
          <a:solidFill>
            <a:srgbClr val="141210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pic>
        <p:nvPicPr>
          <p:cNvPr id="7" name="Image 1" descr="/sessions/confident-upbeat-thompson/mnt/outputs/deck/screenshot-cons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703984"/>
            <a:ext cx="6336792" cy="34500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773603"/>
            <a:ext cx="6089904" cy="3310793"/>
          </a:xfrm>
          <a:prstGeom prst="roundRect">
            <a:avLst>
              <a:gd name="adj" fmla="val 1657"/>
            </a:avLst>
          </a:prstGeom>
          <a:solidFill>
            <a:srgbClr val="241F1A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pic>
        <p:nvPicPr>
          <p:cNvPr id="3" name="Image 0" descr="/sessions/confident-upbeat-thompson/mnt/outputs/deck/screenshot-rail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46755"/>
            <a:ext cx="5943600" cy="31644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040880" y="685800"/>
            <a:ext cx="777240" cy="777240"/>
          </a:xfrm>
          <a:prstGeom prst="ellipse">
            <a:avLst/>
          </a:prstGeom>
          <a:solidFill>
            <a:srgbClr val="F0DDD3"/>
          </a:solidFill>
          <a:ln/>
        </p:spPr>
      </p:sp>
      <p:pic>
        <p:nvPicPr>
          <p:cNvPr id="5" name="Image 1" descr="/sessions/confident-upbeat-thompson/mnt/outputs/deck/icons/cloud-terraco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921" y="786841"/>
            <a:ext cx="575158" cy="5751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0880" y="1645920"/>
            <a:ext cx="4599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bus ahora vive en la nube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7040880" y="2788920"/>
            <a:ext cx="45994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solo en tu laptop, apagado al cerrar la terminal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Ahora: URL pública, encendido 24/7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con la URL puede consultar el mismo ledger</a:t>
            </a:r>
            <a:endParaRPr lang="en-US" sz="14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4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conectar Postgres real cuando se necesite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real, qué es simulado, qué es futuro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adornos — todo etiquetado tal cual 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057400"/>
            <a:ext cx="822960" cy="822960"/>
          </a:xfrm>
          <a:prstGeom prst="ellipse">
            <a:avLst/>
          </a:prstGeom>
          <a:solidFill>
            <a:srgbClr val="DCEEE5"/>
          </a:solidFill>
          <a:ln/>
        </p:spPr>
      </p:sp>
      <p:pic>
        <p:nvPicPr>
          <p:cNvPr id="6" name="Image 0" descr="/sessions/confident-upbeat-thompson/mnt/outputs/deck/icons/check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805" y="216438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8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35661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real de Cpk/Ppk y de MSA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contrato, campo por campo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eventos corriendo en Railway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9300" y="2057400"/>
            <a:ext cx="822960" cy="822960"/>
          </a:xfrm>
          <a:prstGeom prst="ellipse">
            <a:avLst/>
          </a:prstGeom>
          <a:solidFill>
            <a:srgbClr val="E7EFF6"/>
          </a:solidFill>
          <a:ln/>
        </p:spPr>
      </p:sp>
      <p:pic>
        <p:nvPicPr>
          <p:cNvPr id="11" name="Image 1" descr="/sessions/confident-upbeat-thompson/mnt/outputs/deck/icons/layers-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285" y="2164385"/>
            <a:ext cx="608990" cy="608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80" kern="0" dirty="0">
                <a:solidFill>
                  <a:srgbClr val="4A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MOCK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800600" y="35661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 memoria — Postgres real, pendiente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proxy aún no habla con la API real de Carlos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consumers, por confirmar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A1712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69780" y="2057400"/>
            <a:ext cx="822960" cy="822960"/>
          </a:xfrm>
          <a:prstGeom prst="ellipse">
            <a:avLst/>
          </a:prstGeom>
          <a:solidFill>
            <a:srgbClr val="EFEDF8"/>
          </a:solidFill>
          <a:ln/>
        </p:spPr>
      </p:sp>
      <p:pic>
        <p:nvPicPr>
          <p:cNvPr id="16" name="Image 2" descr="/sessions/confident-upbeat-thompson/mnt/outputs/deck/icons/connect-futu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765" y="2164385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0175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spc="80" kern="0" dirty="0">
                <a:solidFill>
                  <a:srgbClr val="8B7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ADAPTER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41080" y="35661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MARLI aparece en pantalla como referencia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código de MARLI existe hoy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 diseño, no una promesa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6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puede mejorar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tramo, en orden de impacto.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rgbClr val="F0DDD3"/>
          </a:solidFill>
          <a:ln/>
        </p:spPr>
      </p:sp>
      <p:pic>
        <p:nvPicPr>
          <p:cNvPr id="5" name="Image 0" descr="/sessions/confident-upbeat-thompson/mnt/outputs/deck/icons/lock-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969618"/>
            <a:ext cx="541325" cy="541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Ponerle su propia clave al bus proxy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19456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 público sin autenticación — cualquiera con la URL puede publicar eventos.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731520" cy="731520"/>
          </a:xfrm>
          <a:prstGeom prst="ellipse">
            <a:avLst/>
          </a:prstGeom>
          <a:solidFill>
            <a:srgbClr val="E7EFF6"/>
          </a:solidFill>
          <a:ln/>
        </p:spPr>
      </p:sp>
      <p:pic>
        <p:nvPicPr>
          <p:cNvPr id="9" name="Image 1" descr="/sessions/confident-upbeat-thompson/mnt/outputs/deck/icons/db-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06689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88036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el ledger de memoria a PostgreSQL real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329184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ya lo ofrece con un clic — mismas columnas que hoy.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731520" cy="731520"/>
          </a:xfrm>
          <a:prstGeom prst="ellipse">
            <a:avLst/>
          </a:prstGeom>
          <a:solidFill>
            <a:srgbClr val="DCEEE5"/>
          </a:solidFill>
          <a:ln/>
        </p:spPr>
      </p:sp>
      <p:pic>
        <p:nvPicPr>
          <p:cNvPr id="13" name="Image 2" descr="/sessions/confident-upbeat-thompson/mnt/outputs/deck/icons/shield-su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164178"/>
            <a:ext cx="541325" cy="5413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97764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con Carlos los eventos que faltan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438912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MSA_NOT_ACCEPTABLE y el caso “capable” de Cpk siguen sin ser oficiales.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66360"/>
            <a:ext cx="731520" cy="731520"/>
          </a:xfrm>
          <a:prstGeom prst="ellipse">
            <a:avLst/>
          </a:prstGeom>
          <a:solidFill>
            <a:srgbClr val="EFEDF8"/>
          </a:solidFill>
          <a:ln/>
        </p:spPr>
      </p:sp>
      <p:pic>
        <p:nvPicPr>
          <p:cNvPr id="17" name="Image 3" descr="/sessions/confident-upbeat-thompson/mnt/outputs/deck/icons/connect-futu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5261458"/>
            <a:ext cx="541325" cy="5413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07492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MARLI como adapter, cuando haya luz verde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00200" y="5486400"/>
            <a:ext cx="9994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ya definida: evento técnico → microtraining → evidencia.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Tools Workspace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7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005840"/>
            <a:ext cx="914400" cy="914400"/>
          </a:xfrm>
          <a:prstGeom prst="ellipse">
            <a:avLst/>
          </a:prstGeom>
          <a:solidFill>
            <a:srgbClr val="1F3A2C"/>
          </a:solidFill>
          <a:ln/>
        </p:spPr>
      </p:sp>
      <p:pic>
        <p:nvPicPr>
          <p:cNvPr id="3" name="Image 0" descr="/sessions/confident-upbeat-thompson/mnt/outputs/deck/icons/check-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6148" y="11247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331720"/>
            <a:ext cx="10725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ownership,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contracts.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8862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tools, un contrato compartido, cero lógica mezclada.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Angel &amp; Joaquín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2026-07-31T01:37:17Z</dcterms:created>
  <dcterms:modified xsi:type="dcterms:W3CDTF">2026-07-31T01:37:17Z</dcterms:modified>
</cp:coreProperties>
</file>